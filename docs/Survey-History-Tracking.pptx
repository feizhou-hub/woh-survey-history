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6932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Cover: History is a mirror — the last 10 surveys show the customer more clearly than they may see themselves. Unsatisfied and Satisfied are starting points. Very Satisfied is the destination.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Before: consultants walk in without the customer's style or intensity. After: the last 10 surveys, color-coded. Unsatisfied and Satisfied are starting points. Very Satisfied is the goal.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Benefit: consultants see the starting temperature, then choose a play that climbs to Very Satisfied. From Unsatisfied: find the complaint and fix the cause. From Satisfied: manager follow-up, root-cause, then a high score. Very Satisfied is the destination — a delighted customer.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Blockers: (1) Salesforce tenant access — with it, Salesforce MCP can speed up processing. (2) Chrome support needs company review so the extension can run where consultants already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Future: score customer–consultant affinity and suggest which AAE should go to which consultant. QL/manager: see who is handling difficult customers and offer help early. Consultant: when stuck, get a suggestion of who to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0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11109960" y="384048"/>
            <a:ext cx="164592" cy="164592"/>
          </a:xfrm>
          <a:prstGeom prst="ellipse">
            <a:avLst/>
          </a:prstGeom>
          <a:solidFill>
            <a:srgbClr val="C43C3C"/>
          </a:solidFill>
          <a:ln w="12700">
            <a:solidFill>
              <a:srgbClr val="C43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365992" y="384048"/>
            <a:ext cx="164592" cy="164592"/>
          </a:xfrm>
          <a:prstGeom prst="ellipse">
            <a:avLst/>
          </a:prstGeom>
          <a:solidFill>
            <a:srgbClr val="C99212"/>
          </a:solidFill>
          <a:ln w="12700">
            <a:solidFill>
              <a:srgbClr val="C99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622024" y="384048"/>
            <a:ext cx="164592" cy="164592"/>
          </a:xfrm>
          <a:prstGeom prst="ellipse">
            <a:avLst/>
          </a:prstGeom>
          <a:solidFill>
            <a:srgbClr val="1B8F4A"/>
          </a:solidFill>
          <a:ln w="12700">
            <a:solidFill>
              <a:srgbClr val="1B8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8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History Tracking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5440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520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History is a mirror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40080" y="2212848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</a:t>
            </a:r>
            <a:r>
              <a:rPr lang="en-US" sz="1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 feel you, even though we can’t see you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4069080"/>
            <a:ext cx="1627632" cy="566928"/>
          </a:xfrm>
          <a:prstGeom prst="roundRect">
            <a:avLst>
              <a:gd name="adj" fmla="val 12903"/>
            </a:avLst>
          </a:prstGeom>
          <a:solidFill>
            <a:srgbClr val="C43C3C"/>
          </a:solidFill>
          <a:ln w="12700">
            <a:solidFill>
              <a:srgbClr val="C43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406908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Unsatisfied</a:t>
            </a:r>
            <a:endParaRPr lang="en-US" sz="11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4215384"/>
            <a:ext cx="164592" cy="16459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468880" y="4069080"/>
            <a:ext cx="1627632" cy="566928"/>
          </a:xfrm>
          <a:prstGeom prst="roundRect">
            <a:avLst>
              <a:gd name="adj" fmla="val 12903"/>
            </a:avLst>
          </a:prstGeom>
          <a:solidFill>
            <a:srgbClr val="9A7210"/>
          </a:solidFill>
          <a:ln w="12700">
            <a:solidFill>
              <a:srgbClr val="9A72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468880" y="406908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Satisfied</a:t>
            </a:r>
            <a:endParaRPr lang="en-US" sz="11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4215384"/>
            <a:ext cx="164592" cy="16459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297680" y="4069080"/>
            <a:ext cx="1627632" cy="566928"/>
          </a:xfrm>
          <a:prstGeom prst="roundRect">
            <a:avLst>
              <a:gd name="adj" fmla="val 12903"/>
            </a:avLst>
          </a:prstGeom>
          <a:solidFill>
            <a:srgbClr val="1B8F4A"/>
          </a:solidFill>
          <a:ln w="12700">
            <a:solidFill>
              <a:srgbClr val="1B8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4297680" y="406908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Satisfied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40080" y="598932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History Tracking  ·  last 10 surveys, before you speak</a:t>
            </a:r>
            <a:endParaRPr lang="en-US" sz="1300" dirty="0"/>
          </a:p>
        </p:txBody>
      </p:sp>
      <p:pic>
        <p:nvPicPr>
          <p:cNvPr id="22" name="Picture 21" descr="Illustration of a girl with bodymap colours, sitting in a chair feeling the music.">
            <a:extLst>
              <a:ext uri="{FF2B5EF4-FFF2-40B4-BE49-F238E27FC236}">
                <a16:creationId xmlns:a16="http://schemas.microsoft.com/office/drawing/2014/main" id="{7A0C04A6-65C9-0CF8-00B4-B267F1E33F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1242" y="1300425"/>
            <a:ext cx="5492332" cy="48057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109960" y="384048"/>
            <a:ext cx="164592" cy="164592"/>
          </a:xfrm>
          <a:prstGeom prst="ellipse">
            <a:avLst/>
          </a:prstGeom>
          <a:solidFill>
            <a:srgbClr val="C43C3C"/>
          </a:solidFill>
          <a:ln w="12700">
            <a:solidFill>
              <a:srgbClr val="C43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365992" y="384048"/>
            <a:ext cx="164592" cy="164592"/>
          </a:xfrm>
          <a:prstGeom prst="ellipse">
            <a:avLst/>
          </a:prstGeom>
          <a:solidFill>
            <a:srgbClr val="C99212"/>
          </a:solidFill>
          <a:ln w="12700">
            <a:solidFill>
              <a:srgbClr val="C99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622024" y="384048"/>
            <a:ext cx="164592" cy="164592"/>
          </a:xfrm>
          <a:prstGeom prst="ellipse">
            <a:avLst/>
          </a:prstGeom>
          <a:solidFill>
            <a:srgbClr val="1B8F4A"/>
          </a:solidFill>
          <a:ln w="12700">
            <a:solidFill>
              <a:srgbClr val="1B8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21945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0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See the start. Aim for Very Satisfied.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694944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vs  with the history.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460602"/>
            <a:ext cx="5230368" cy="4903622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228600" dist="50800" dir="5400000" algn="bl" rotWithShape="0">
              <a:srgbClr val="1520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0080" y="1792224"/>
            <a:ext cx="4864608" cy="1402080"/>
          </a:xfrm>
          <a:prstGeom prst="roundRect">
            <a:avLst>
              <a:gd name="adj" fmla="val 652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04672" y="2173224"/>
            <a:ext cx="640080" cy="640080"/>
          </a:xfrm>
          <a:prstGeom prst="ellipse">
            <a:avLst/>
          </a:prstGeom>
          <a:solidFill>
            <a:srgbClr val="1B2838"/>
          </a:solidFill>
          <a:ln w="12700">
            <a:solidFill>
              <a:srgbClr val="1B2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337816"/>
            <a:ext cx="310896" cy="31089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627632" y="2044598"/>
            <a:ext cx="3767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style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627632" y="2465222"/>
            <a:ext cx="3767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read how this customer likes to work.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0080" y="3285744"/>
            <a:ext cx="4864608" cy="1402080"/>
          </a:xfrm>
          <a:prstGeom prst="roundRect">
            <a:avLst>
              <a:gd name="adj" fmla="val 652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804672" y="3666744"/>
            <a:ext cx="640080" cy="640080"/>
          </a:xfrm>
          <a:prstGeom prst="ellipse">
            <a:avLst/>
          </a:prstGeom>
          <a:solidFill>
            <a:srgbClr val="1B2838"/>
          </a:solidFill>
          <a:ln w="12700">
            <a:solidFill>
              <a:srgbClr val="1B2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3831336"/>
            <a:ext cx="310896" cy="31089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627632" y="3538118"/>
            <a:ext cx="3767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intensity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1627632" y="3958742"/>
            <a:ext cx="3767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soft? Too hard? No signal to set the limit.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40080" y="4779264"/>
            <a:ext cx="4864608" cy="1402080"/>
          </a:xfrm>
          <a:prstGeom prst="roundRect">
            <a:avLst>
              <a:gd name="adj" fmla="val 652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804672" y="5160264"/>
            <a:ext cx="640080" cy="640080"/>
          </a:xfrm>
          <a:prstGeom prst="ellipse">
            <a:avLst/>
          </a:prstGeom>
          <a:solidFill>
            <a:srgbClr val="1B2838"/>
          </a:solidFill>
          <a:ln w="12700">
            <a:solidFill>
              <a:srgbClr val="1B2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5324856"/>
            <a:ext cx="310896" cy="31089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627632" y="5031638"/>
            <a:ext cx="3767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in blind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1627632" y="5452262"/>
            <a:ext cx="3767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 starts. The history is still a surprise.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5797296" y="3465576"/>
            <a:ext cx="512064" cy="512064"/>
          </a:xfrm>
          <a:prstGeom prst="ellipse">
            <a:avLst/>
          </a:prstGeom>
          <a:solidFill>
            <a:srgbClr val="1B2838"/>
          </a:solidFill>
          <a:ln w="12700">
            <a:solidFill>
              <a:srgbClr val="1B2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4456" y="3602736"/>
            <a:ext cx="237744" cy="237744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6473952" y="1460602"/>
            <a:ext cx="5230368" cy="4903622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228600" dist="50800" dir="5400000" algn="bl" rotWithShape="0">
              <a:srgbClr val="1520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6656832" y="1792224"/>
            <a:ext cx="4864608" cy="1402080"/>
          </a:xfrm>
          <a:prstGeom prst="roundRect">
            <a:avLst>
              <a:gd name="adj" fmla="val 6522"/>
            </a:avLst>
          </a:prstGeom>
          <a:solidFill>
            <a:srgbClr val="D4EDDA"/>
          </a:solidFill>
          <a:ln w="12700">
            <a:solidFill>
              <a:srgbClr val="D4ED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8"/>
          <p:cNvSpPr/>
          <p:nvPr/>
        </p:nvSpPr>
        <p:spPr>
          <a:xfrm>
            <a:off x="6821424" y="2337816"/>
            <a:ext cx="310896" cy="310896"/>
          </a:xfrm>
          <a:prstGeom prst="ellipse">
            <a:avLst/>
          </a:prstGeom>
          <a:solidFill>
            <a:srgbClr val="1B8F4A"/>
          </a:solidFill>
          <a:ln w="12700">
            <a:solidFill>
              <a:srgbClr val="1B8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/>
          <p:nvPr/>
        </p:nvSpPr>
        <p:spPr>
          <a:xfrm>
            <a:off x="7278624" y="2016557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Satisfied</a:t>
            </a:r>
            <a:endParaRPr lang="en-US" sz="1600" dirty="0"/>
          </a:p>
        </p:txBody>
      </p:sp>
      <p:sp>
        <p:nvSpPr>
          <p:cNvPr id="36" name="Text 30"/>
          <p:cNvSpPr/>
          <p:nvPr/>
        </p:nvSpPr>
        <p:spPr>
          <a:xfrm>
            <a:off x="7278624" y="24932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fast, kind.</a:t>
            </a:r>
            <a:endParaRPr lang="en-US" sz="1200" dirty="0"/>
          </a:p>
        </p:txBody>
      </p:sp>
      <p:sp>
        <p:nvSpPr>
          <p:cNvPr id="37" name="Shape 31"/>
          <p:cNvSpPr/>
          <p:nvPr/>
        </p:nvSpPr>
        <p:spPr>
          <a:xfrm>
            <a:off x="9171432" y="2297039"/>
            <a:ext cx="1746504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r>
              <a:rPr lang="zh-CN" altLang="en-US" dirty="0"/>
              <a:t>      </a:t>
            </a:r>
            <a:r>
              <a:rPr lang="en-US" altLang="zh-CN" sz="1600" dirty="0"/>
              <a:t>h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appy again </a:t>
            </a:r>
          </a:p>
        </p:txBody>
      </p:sp>
      <p:sp>
        <p:nvSpPr>
          <p:cNvPr id="40" name="Shape 33"/>
          <p:cNvSpPr/>
          <p:nvPr/>
        </p:nvSpPr>
        <p:spPr>
          <a:xfrm>
            <a:off x="6656832" y="3285744"/>
            <a:ext cx="4864608" cy="1402080"/>
          </a:xfrm>
          <a:prstGeom prst="roundRect">
            <a:avLst>
              <a:gd name="adj" fmla="val 6522"/>
            </a:avLst>
          </a:prstGeom>
          <a:solidFill>
            <a:srgbClr val="FFF3CD"/>
          </a:solidFill>
          <a:ln w="12700">
            <a:solidFill>
              <a:srgbClr val="FFF3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4"/>
          <p:cNvSpPr/>
          <p:nvPr/>
        </p:nvSpPr>
        <p:spPr>
          <a:xfrm>
            <a:off x="6821424" y="3395472"/>
            <a:ext cx="237744" cy="237744"/>
          </a:xfrm>
          <a:prstGeom prst="ellipse">
            <a:avLst/>
          </a:prstGeom>
          <a:solidFill>
            <a:srgbClr val="C99212"/>
          </a:solidFill>
          <a:ln w="12700">
            <a:solidFill>
              <a:srgbClr val="C99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5"/>
          <p:cNvSpPr/>
          <p:nvPr/>
        </p:nvSpPr>
        <p:spPr>
          <a:xfrm>
            <a:off x="7150608" y="335889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Satisfied</a:t>
            </a:r>
            <a:endParaRPr lang="en-US" sz="1400" dirty="0"/>
          </a:p>
        </p:txBody>
      </p:sp>
      <p:sp>
        <p:nvSpPr>
          <p:cNvPr id="43" name="Shape 36"/>
          <p:cNvSpPr/>
          <p:nvPr/>
        </p:nvSpPr>
        <p:spPr>
          <a:xfrm>
            <a:off x="6784848" y="3669792"/>
            <a:ext cx="1438656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37"/>
          <p:cNvSpPr/>
          <p:nvPr/>
        </p:nvSpPr>
        <p:spPr>
          <a:xfrm>
            <a:off x="7367016" y="3742944"/>
            <a:ext cx="274320" cy="274320"/>
          </a:xfrm>
          <a:prstGeom prst="ellipse">
            <a:avLst/>
          </a:prstGeom>
          <a:solidFill>
            <a:srgbClr val="1B2838"/>
          </a:solidFill>
          <a:ln w="12700">
            <a:solidFill>
              <a:srgbClr val="1B2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31024" y="3806952"/>
            <a:ext cx="146304" cy="146304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6821424" y="4053840"/>
            <a:ext cx="1365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000" dirty="0"/>
          </a:p>
        </p:txBody>
      </p:sp>
      <p:pic>
        <p:nvPicPr>
          <p:cNvPr id="47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32648" y="4017264"/>
            <a:ext cx="128016" cy="128016"/>
          </a:xfrm>
          <a:prstGeom prst="rect">
            <a:avLst/>
          </a:prstGeom>
        </p:spPr>
      </p:pic>
      <p:sp>
        <p:nvSpPr>
          <p:cNvPr id="48" name="Shape 39"/>
          <p:cNvSpPr/>
          <p:nvPr/>
        </p:nvSpPr>
        <p:spPr>
          <a:xfrm>
            <a:off x="8369808" y="3669792"/>
            <a:ext cx="1438656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0"/>
          <p:cNvSpPr/>
          <p:nvPr/>
        </p:nvSpPr>
        <p:spPr>
          <a:xfrm>
            <a:off x="8951976" y="3742944"/>
            <a:ext cx="274320" cy="274320"/>
          </a:xfrm>
          <a:prstGeom prst="ellipse">
            <a:avLst/>
          </a:prstGeom>
          <a:solidFill>
            <a:srgbClr val="1B2838"/>
          </a:solidFill>
          <a:ln w="12700">
            <a:solidFill>
              <a:srgbClr val="1B2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15984" y="3806952"/>
            <a:ext cx="146304" cy="146304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8406384" y="4053840"/>
            <a:ext cx="1365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000" dirty="0"/>
          </a:p>
        </p:txBody>
      </p:sp>
      <p:pic>
        <p:nvPicPr>
          <p:cNvPr id="52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17608" y="4017264"/>
            <a:ext cx="128016" cy="128016"/>
          </a:xfrm>
          <a:prstGeom prst="rect">
            <a:avLst/>
          </a:prstGeom>
        </p:spPr>
      </p:pic>
      <p:sp>
        <p:nvSpPr>
          <p:cNvPr id="53" name="Shape 42"/>
          <p:cNvSpPr/>
          <p:nvPr/>
        </p:nvSpPr>
        <p:spPr>
          <a:xfrm>
            <a:off x="9954768" y="3669792"/>
            <a:ext cx="1438656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43"/>
          <p:cNvSpPr/>
          <p:nvPr/>
        </p:nvSpPr>
        <p:spPr>
          <a:xfrm>
            <a:off x="10536936" y="3742944"/>
            <a:ext cx="274320" cy="274320"/>
          </a:xfrm>
          <a:prstGeom prst="ellipse">
            <a:avLst/>
          </a:prstGeom>
          <a:solidFill>
            <a:srgbClr val="1B2838"/>
          </a:solidFill>
          <a:ln w="12700">
            <a:solidFill>
              <a:srgbClr val="1B2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5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00944" y="3806952"/>
            <a:ext cx="146304" cy="146304"/>
          </a:xfrm>
          <a:prstGeom prst="rect">
            <a:avLst/>
          </a:prstGeom>
        </p:spPr>
      </p:pic>
      <p:sp>
        <p:nvSpPr>
          <p:cNvPr id="56" name="Text 44"/>
          <p:cNvSpPr/>
          <p:nvPr/>
        </p:nvSpPr>
        <p:spPr>
          <a:xfrm>
            <a:off x="9991344" y="4053840"/>
            <a:ext cx="1365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score</a:t>
            </a:r>
            <a:endParaRPr lang="en-US" sz="1000" dirty="0"/>
          </a:p>
        </p:txBody>
      </p:sp>
      <p:sp>
        <p:nvSpPr>
          <p:cNvPr id="57" name="Shape 45"/>
          <p:cNvSpPr/>
          <p:nvPr/>
        </p:nvSpPr>
        <p:spPr>
          <a:xfrm>
            <a:off x="6656832" y="4779264"/>
            <a:ext cx="4864608" cy="1402080"/>
          </a:xfrm>
          <a:prstGeom prst="roundRect">
            <a:avLst>
              <a:gd name="adj" fmla="val 6522"/>
            </a:avLst>
          </a:prstGeom>
          <a:solidFill>
            <a:srgbClr val="F8D7DA"/>
          </a:solidFill>
          <a:ln w="12700">
            <a:solidFill>
              <a:srgbClr val="F8D7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46"/>
          <p:cNvSpPr/>
          <p:nvPr/>
        </p:nvSpPr>
        <p:spPr>
          <a:xfrm>
            <a:off x="6821424" y="5324856"/>
            <a:ext cx="310896" cy="310896"/>
          </a:xfrm>
          <a:prstGeom prst="ellipse">
            <a:avLst/>
          </a:prstGeom>
          <a:solidFill>
            <a:srgbClr val="C43C3C"/>
          </a:solidFill>
          <a:ln w="12700">
            <a:solidFill>
              <a:srgbClr val="C43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47"/>
          <p:cNvSpPr/>
          <p:nvPr/>
        </p:nvSpPr>
        <p:spPr>
          <a:xfrm>
            <a:off x="7278624" y="4975555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Unsatisfied</a:t>
            </a:r>
            <a:endParaRPr lang="en-US" sz="1600" dirty="0"/>
          </a:p>
        </p:txBody>
      </p:sp>
      <p:sp>
        <p:nvSpPr>
          <p:cNvPr id="60" name="Text 48"/>
          <p:cNvSpPr/>
          <p:nvPr/>
        </p:nvSpPr>
        <p:spPr>
          <a:xfrm>
            <a:off x="7278624" y="5424221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why they complained.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Climb to Very Satisfied.</a:t>
            </a:r>
            <a:endParaRPr lang="en-US" sz="1200" dirty="0"/>
          </a:p>
        </p:txBody>
      </p:sp>
      <p:sp>
        <p:nvSpPr>
          <p:cNvPr id="61" name="Shape 49"/>
          <p:cNvSpPr/>
          <p:nvPr/>
        </p:nvSpPr>
        <p:spPr>
          <a:xfrm>
            <a:off x="10771632" y="5187696"/>
            <a:ext cx="585216" cy="585216"/>
          </a:xfrm>
          <a:prstGeom prst="ellipse">
            <a:avLst/>
          </a:prstGeom>
          <a:solidFill>
            <a:srgbClr val="C43C3C"/>
          </a:solidFill>
          <a:ln w="12700">
            <a:solidFill>
              <a:srgbClr val="C43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17936" y="5334000"/>
            <a:ext cx="292608" cy="292608"/>
          </a:xfrm>
          <a:prstGeom prst="rect">
            <a:avLst/>
          </a:prstGeom>
        </p:spPr>
      </p:pic>
      <p:pic>
        <p:nvPicPr>
          <p:cNvPr id="63" name="Picture 62" descr="卡哇伊卡通皇冠圖標表情歡快, 卡通皇冠, 卡通, 卡通可愛PNG去背 ...">
            <a:extLst>
              <a:ext uri="{FF2B5EF4-FFF2-40B4-BE49-F238E27FC236}">
                <a16:creationId xmlns:a16="http://schemas.microsoft.com/office/drawing/2014/main" id="{DC72ABBA-86ED-D621-34DE-E639387F4E8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41124" y="2373782"/>
            <a:ext cx="282822" cy="2828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109960" y="384048"/>
            <a:ext cx="164592" cy="164592"/>
          </a:xfrm>
          <a:prstGeom prst="ellipse">
            <a:avLst/>
          </a:prstGeom>
          <a:solidFill>
            <a:srgbClr val="C43C3C"/>
          </a:solidFill>
          <a:ln w="12700">
            <a:solidFill>
              <a:srgbClr val="C43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365992" y="384048"/>
            <a:ext cx="164592" cy="164592"/>
          </a:xfrm>
          <a:prstGeom prst="ellipse">
            <a:avLst/>
          </a:prstGeom>
          <a:solidFill>
            <a:srgbClr val="C99212"/>
          </a:solidFill>
          <a:ln w="12700">
            <a:solidFill>
              <a:srgbClr val="C99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622024" y="384048"/>
            <a:ext cx="164592" cy="164592"/>
          </a:xfrm>
          <a:prstGeom prst="ellipse">
            <a:avLst/>
          </a:prstGeom>
          <a:solidFill>
            <a:srgbClr val="1B8F4A"/>
          </a:solidFill>
          <a:ln w="12700">
            <a:solidFill>
              <a:srgbClr val="1B8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21945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0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Every play climbs to Very Satisfied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694944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starting points. One delighted customer.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115568"/>
            <a:ext cx="5212080" cy="2331720"/>
          </a:xfrm>
          <a:prstGeom prst="roundRect">
            <a:avLst>
              <a:gd name="adj" fmla="val 6275"/>
            </a:avLst>
          </a:prstGeom>
          <a:solidFill>
            <a:srgbClr val="8E2A2A"/>
          </a:solidFill>
          <a:ln w="12700">
            <a:solidFill>
              <a:srgbClr val="8E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49808" y="1353312"/>
            <a:ext cx="658368" cy="658368"/>
          </a:xfrm>
          <a:prstGeom prst="ellipse">
            <a:avLst/>
          </a:prstGeom>
          <a:solidFill>
            <a:srgbClr val="C43C3C"/>
          </a:solidFill>
          <a:ln w="12700">
            <a:solidFill>
              <a:srgbClr val="C43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1527048"/>
            <a:ext cx="310896" cy="3108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54480" y="14447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 UNSATISFIED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49808" y="214884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Find why they complained.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49808" y="263347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cause. Start the climb.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02920" y="3639312"/>
            <a:ext cx="5212080" cy="2670048"/>
          </a:xfrm>
          <a:prstGeom prst="roundRect">
            <a:avLst>
              <a:gd name="adj" fmla="val 5479"/>
            </a:avLst>
          </a:prstGeom>
          <a:solidFill>
            <a:srgbClr val="9A7210"/>
          </a:solidFill>
          <a:ln w="12700">
            <a:solidFill>
              <a:srgbClr val="9A72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49808" y="3858768"/>
            <a:ext cx="658368" cy="658368"/>
          </a:xfrm>
          <a:prstGeom prst="ellipse">
            <a:avLst/>
          </a:prstGeom>
          <a:solidFill>
            <a:srgbClr val="1B2838"/>
          </a:solidFill>
          <a:ln w="12700">
            <a:solidFill>
              <a:srgbClr val="1B2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4032504"/>
            <a:ext cx="310896" cy="3108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554480" y="39502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E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 SATISFIED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749808" y="468172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Manager  →  Analyze→  High score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749808" y="521208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E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up now so the next score is Very Satisfied.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5989320" y="1115568"/>
            <a:ext cx="5669280" cy="5193792"/>
          </a:xfrm>
          <a:prstGeom prst="roundRect">
            <a:avLst>
              <a:gd name="adj" fmla="val 3169"/>
            </a:avLst>
          </a:prstGeom>
          <a:solidFill>
            <a:srgbClr val="146C38"/>
          </a:solidFill>
          <a:ln w="12700">
            <a:solidFill>
              <a:srgbClr val="146C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6223192" y="4306824"/>
            <a:ext cx="566928" cy="566928"/>
          </a:xfrm>
          <a:prstGeom prst="ellipse">
            <a:avLst/>
          </a:prstGeom>
          <a:solidFill>
            <a:srgbClr val="1B8F4A"/>
          </a:solidFill>
          <a:ln w="12700">
            <a:solidFill>
              <a:srgbClr val="1B8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94" y="4471416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49440" y="438912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6E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6321552" y="487375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Your satisfaction is our priority</a:t>
            </a:r>
            <a:endParaRPr lang="en-US" sz="2400" dirty="0"/>
          </a:p>
        </p:txBody>
      </p:sp>
      <p:sp>
        <p:nvSpPr>
          <p:cNvPr id="26" name="Text 20"/>
          <p:cNvSpPr/>
          <p:nvPr/>
        </p:nvSpPr>
        <p:spPr>
          <a:xfrm>
            <a:off x="6263640" y="5157216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DE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them delighted. Don't treat a promoter like a first-time call.</a:t>
            </a:r>
            <a:endParaRPr lang="en-US" sz="14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952B3A5-9E2A-EB78-43CA-2C31DDBAFF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9944" y="1328105"/>
            <a:ext cx="4619244" cy="228146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109960" y="384048"/>
            <a:ext cx="164592" cy="164592"/>
          </a:xfrm>
          <a:prstGeom prst="ellipse">
            <a:avLst/>
          </a:prstGeom>
          <a:solidFill>
            <a:srgbClr val="C43C3C"/>
          </a:solidFill>
          <a:ln w="12700">
            <a:solidFill>
              <a:srgbClr val="C43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365992" y="384048"/>
            <a:ext cx="164592" cy="164592"/>
          </a:xfrm>
          <a:prstGeom prst="ellipse">
            <a:avLst/>
          </a:prstGeom>
          <a:solidFill>
            <a:srgbClr val="C99212"/>
          </a:solidFill>
          <a:ln w="12700">
            <a:solidFill>
              <a:srgbClr val="C99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622024" y="384048"/>
            <a:ext cx="164592" cy="164592"/>
          </a:xfrm>
          <a:prstGeom prst="ellipse">
            <a:avLst/>
          </a:prstGeom>
          <a:solidFill>
            <a:srgbClr val="1B8F4A"/>
          </a:solidFill>
          <a:ln w="12700">
            <a:solidFill>
              <a:srgbClr val="1B8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21945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0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Two gates still closed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694944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works today. Scale needs two unlocks.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115568"/>
            <a:ext cx="11155680" cy="263347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228600" dist="50800" dir="5400000" algn="bl" rotWithShape="0">
              <a:srgbClr val="1520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2960" y="1828800"/>
            <a:ext cx="1170432" cy="1170432"/>
          </a:xfrm>
          <a:prstGeom prst="ellipse">
            <a:avLst/>
          </a:prstGeom>
          <a:solidFill>
            <a:srgbClr val="E5F6FC"/>
          </a:solidFill>
          <a:ln w="12700">
            <a:solidFill>
              <a:srgbClr val="E5F6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993392"/>
            <a:ext cx="841248" cy="84124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627632" y="2651760"/>
            <a:ext cx="420624" cy="420624"/>
          </a:xfrm>
          <a:prstGeom prst="ellipse">
            <a:avLst/>
          </a:prstGeom>
          <a:solidFill>
            <a:srgbClr val="C43C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9072" y="2743200"/>
            <a:ext cx="237744" cy="23774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286000" y="1499616"/>
            <a:ext cx="1051560" cy="329184"/>
          </a:xfrm>
          <a:prstGeom prst="roundRect">
            <a:avLst>
              <a:gd name="adj" fmla="val 22222"/>
            </a:avLst>
          </a:prstGeom>
          <a:solidFill>
            <a:srgbClr val="C43C3C"/>
          </a:solidFill>
          <a:ln w="12700">
            <a:solidFill>
              <a:srgbClr val="C43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2286000" y="149961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286000" y="192024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20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Salesforce tenant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2286000" y="241401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access to the tenant.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537960" y="1499616"/>
            <a:ext cx="4800600" cy="1865376"/>
          </a:xfrm>
          <a:prstGeom prst="roundRect">
            <a:avLst>
              <a:gd name="adj" fmla="val 5882"/>
            </a:avLst>
          </a:prstGeom>
          <a:solidFill>
            <a:srgbClr val="D4EDDA"/>
          </a:solidFill>
          <a:ln w="12700">
            <a:solidFill>
              <a:srgbClr val="D4ED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766560" y="1719072"/>
            <a:ext cx="512064" cy="512064"/>
          </a:xfrm>
          <a:prstGeom prst="ellipse">
            <a:avLst/>
          </a:prstGeom>
          <a:solidFill>
            <a:srgbClr val="146C38"/>
          </a:solidFill>
          <a:ln w="12700">
            <a:solidFill>
              <a:srgbClr val="146C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5432" y="1837944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424928" y="16824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7424928" y="195681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MCP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6766560" y="2414016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survey history faster.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waiting on the page.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502920" y="3950208"/>
            <a:ext cx="11155680" cy="263347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228600" dist="50800" dir="5400000" algn="bl" rotWithShape="0">
              <a:srgbClr val="1520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822960" y="4663440"/>
            <a:ext cx="1170432" cy="1170432"/>
          </a:xfrm>
          <a:prstGeom prst="ellipse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552" y="4828032"/>
            <a:ext cx="841248" cy="841248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1627632" y="5486400"/>
            <a:ext cx="420624" cy="420624"/>
          </a:xfrm>
          <a:prstGeom prst="ellipse">
            <a:avLst/>
          </a:prstGeom>
          <a:solidFill>
            <a:srgbClr val="C43C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9072" y="5577840"/>
            <a:ext cx="237744" cy="237744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2286000" y="4334256"/>
            <a:ext cx="1051560" cy="329184"/>
          </a:xfrm>
          <a:prstGeom prst="roundRect">
            <a:avLst>
              <a:gd name="adj" fmla="val 22222"/>
            </a:avLst>
          </a:prstGeom>
          <a:solidFill>
            <a:srgbClr val="C43C3C"/>
          </a:solidFill>
          <a:ln w="12700">
            <a:solidFill>
              <a:srgbClr val="C43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2"/>
          <p:cNvSpPr/>
          <p:nvPr/>
        </p:nvSpPr>
        <p:spPr>
          <a:xfrm>
            <a:off x="2286000" y="433425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2286000" y="475488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20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Chrome</a:t>
            </a:r>
            <a:endParaRPr lang="en-US" sz="2600" dirty="0"/>
          </a:p>
        </p:txBody>
      </p:sp>
      <p:sp>
        <p:nvSpPr>
          <p:cNvPr id="31" name="Text 24"/>
          <p:cNvSpPr/>
          <p:nvPr/>
        </p:nvSpPr>
        <p:spPr>
          <a:xfrm>
            <a:off x="2286000" y="524865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company review.</a:t>
            </a:r>
            <a:endParaRPr lang="en-US" sz="1600" dirty="0"/>
          </a:p>
        </p:txBody>
      </p:sp>
      <p:sp>
        <p:nvSpPr>
          <p:cNvPr id="32" name="Shape 25"/>
          <p:cNvSpPr/>
          <p:nvPr/>
        </p:nvSpPr>
        <p:spPr>
          <a:xfrm>
            <a:off x="6537960" y="4334256"/>
            <a:ext cx="4800600" cy="1865376"/>
          </a:xfrm>
          <a:prstGeom prst="roundRect">
            <a:avLst>
              <a:gd name="adj" fmla="val 5882"/>
            </a:avLst>
          </a:prstGeom>
          <a:solidFill>
            <a:srgbClr val="D4EDDA"/>
          </a:solidFill>
          <a:ln w="12700">
            <a:solidFill>
              <a:srgbClr val="D4ED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6"/>
          <p:cNvSpPr/>
          <p:nvPr/>
        </p:nvSpPr>
        <p:spPr>
          <a:xfrm>
            <a:off x="6766560" y="4553712"/>
            <a:ext cx="512064" cy="512064"/>
          </a:xfrm>
          <a:prstGeom prst="ellipse">
            <a:avLst/>
          </a:prstGeom>
          <a:solidFill>
            <a:srgbClr val="146C38"/>
          </a:solidFill>
          <a:ln w="12700">
            <a:solidFill>
              <a:srgbClr val="146C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5432" y="4672584"/>
            <a:ext cx="274320" cy="27432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424928" y="45171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7424928" y="47914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daily use</a:t>
            </a:r>
            <a:endParaRPr lang="en-US" sz="2000" dirty="0"/>
          </a:p>
        </p:txBody>
      </p:sp>
      <p:sp>
        <p:nvSpPr>
          <p:cNvPr id="37" name="Text 29"/>
          <p:cNvSpPr/>
          <p:nvPr/>
        </p:nvSpPr>
        <p:spPr>
          <a:xfrm>
            <a:off x="6766560" y="5248656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consultants already work in Chrome.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109960" y="384048"/>
            <a:ext cx="164592" cy="164592"/>
          </a:xfrm>
          <a:prstGeom prst="ellipse">
            <a:avLst/>
          </a:prstGeom>
          <a:solidFill>
            <a:srgbClr val="C43C3C"/>
          </a:solidFill>
          <a:ln w="12700">
            <a:solidFill>
              <a:srgbClr val="C43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365992" y="384048"/>
            <a:ext cx="164592" cy="164592"/>
          </a:xfrm>
          <a:prstGeom prst="ellipse">
            <a:avLst/>
          </a:prstGeom>
          <a:solidFill>
            <a:srgbClr val="C99212"/>
          </a:solidFill>
          <a:ln w="12700">
            <a:solidFill>
              <a:srgbClr val="C99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622024" y="384048"/>
            <a:ext cx="164592" cy="164592"/>
          </a:xfrm>
          <a:prstGeom prst="ellipse">
            <a:avLst/>
          </a:prstGeom>
          <a:solidFill>
            <a:srgbClr val="1B8F4A"/>
          </a:solidFill>
          <a:ln w="12700">
            <a:solidFill>
              <a:srgbClr val="1B8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21945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0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Next: match the right consultant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694944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person makes Very Satisfied more likely.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115568"/>
            <a:ext cx="11155680" cy="24688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228600" dist="50800" dir="5400000" algn="bl" rotWithShape="0">
              <a:srgbClr val="1520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51560" y="1627632"/>
            <a:ext cx="1051560" cy="1051560"/>
          </a:xfrm>
          <a:prstGeom prst="ellipse">
            <a:avLst/>
          </a:prstGeom>
          <a:solidFill>
            <a:srgbClr val="D4EDDA"/>
          </a:solidFill>
          <a:ln w="12700">
            <a:solidFill>
              <a:srgbClr val="D4ED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596" y="1915668"/>
            <a:ext cx="475488" cy="4754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278892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305409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+ history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606040" y="2121408"/>
            <a:ext cx="6903720" cy="91440"/>
          </a:xfrm>
          <a:prstGeom prst="roundRect">
            <a:avLst>
              <a:gd name="adj" fmla="val 40000"/>
            </a:avLst>
          </a:prstGeom>
          <a:solidFill>
            <a:srgbClr val="E2E6EA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709160" y="1783080"/>
            <a:ext cx="2743200" cy="777240"/>
          </a:xfrm>
          <a:prstGeom prst="roundRect">
            <a:avLst>
              <a:gd name="adj" fmla="val 11765"/>
            </a:avLst>
          </a:prstGeom>
          <a:solidFill>
            <a:srgbClr val="1B2838"/>
          </a:solidFill>
          <a:ln w="12700">
            <a:solidFill>
              <a:srgbClr val="1B2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709160" y="18196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Affinity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709160" y="214884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5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should take this AAE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0012680" y="1627632"/>
            <a:ext cx="1051560" cy="1051560"/>
          </a:xfrm>
          <a:prstGeom prst="ellipse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0716" y="1915668"/>
            <a:ext cx="475488" cy="47548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9646920" y="278892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9646920" y="305409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fit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02920" y="3794760"/>
            <a:ext cx="5440680" cy="251460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228600" dist="50800" dir="5400000" algn="bl" rotWithShape="0">
              <a:srgbClr val="1520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822960" y="4041648"/>
            <a:ext cx="658368" cy="658368"/>
          </a:xfrm>
          <a:prstGeom prst="ellipse">
            <a:avLst/>
          </a:prstGeom>
          <a:solidFill>
            <a:srgbClr val="1B2838"/>
          </a:solidFill>
          <a:ln w="12700">
            <a:solidFill>
              <a:srgbClr val="1B2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4206240"/>
            <a:ext cx="329184" cy="32918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645920" y="40416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  ·  Manager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1645920" y="431596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20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Help early</a:t>
            </a:r>
            <a:endParaRPr lang="en-US" sz="2200" dirty="0"/>
          </a:p>
        </p:txBody>
      </p:sp>
      <p:sp>
        <p:nvSpPr>
          <p:cNvPr id="26" name="Text 21"/>
          <p:cNvSpPr/>
          <p:nvPr/>
        </p:nvSpPr>
        <p:spPr>
          <a:xfrm>
            <a:off x="822960" y="489204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who is on a hard customer.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in before it breaks.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6217920" y="3794760"/>
            <a:ext cx="5440680" cy="251460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228600" dist="50800" dir="5400000" algn="bl" rotWithShape="0">
              <a:srgbClr val="1520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6537960" y="4041648"/>
            <a:ext cx="658368" cy="658368"/>
          </a:xfrm>
          <a:prstGeom prst="ellipse">
            <a:avLst/>
          </a:prstGeom>
          <a:solidFill>
            <a:srgbClr val="146C38"/>
          </a:solidFill>
          <a:ln w="12700">
            <a:solidFill>
              <a:srgbClr val="146C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2552" y="4206240"/>
            <a:ext cx="329184" cy="32918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360920" y="40416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7360920" y="431596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20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Know who to call</a:t>
            </a:r>
            <a:endParaRPr lang="en-US" sz="2200" dirty="0"/>
          </a:p>
        </p:txBody>
      </p:sp>
      <p:sp>
        <p:nvSpPr>
          <p:cNvPr id="32" name="Text 26"/>
          <p:cNvSpPr/>
          <p:nvPr/>
        </p:nvSpPr>
        <p:spPr>
          <a:xfrm>
            <a:off x="6537960" y="489204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 on the call?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name — not a blank stare.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513</Words>
  <Application>Microsoft Macintosh PowerPoint</Application>
  <PresentationFormat>Widescreen</PresentationFormat>
  <Paragraphs>77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Century Schoolbook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Survey History Tracking</dc:title>
  <dc:subject>Know the customer temperature before the call</dc:subject>
  <dc:creator>Survey History Tracking</dc:creator>
  <cp:lastModifiedBy>Feizhou Li</cp:lastModifiedBy>
  <cp:revision>6</cp:revision>
  <dcterms:created xsi:type="dcterms:W3CDTF">2026-08-18T02:36:40Z</dcterms:created>
  <dcterms:modified xsi:type="dcterms:W3CDTF">2026-08-18T03:07:47Z</dcterms:modified>
</cp:coreProperties>
</file>